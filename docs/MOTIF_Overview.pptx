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Arial"/>
              </a:rPr>
              <a:t>Same-Tissue Prediction (R²)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(same-tissue test set)</c:v>
                </c:pt>
              </c:strCache>
            </c:strRef>
          </c:tx>
          <c:spPr>
            <a:solidFill>
              <a:srgbClr val="5A6B7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B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B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</c:v>
                  </c:pt>
                  <c:pt idx="1">
                    <c:v>MLP</c:v>
                  </c:pt>
                  <c:pt idx="2">
                    <c:v>Transformer
(scratch)</c:v>
                  </c:pt>
                  <c:pt idx="3">
                    <c:v>Transformer
(pretrained)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0.7252</c:v>
                </c:pt>
                <c:pt idx="1">
                  <c:v>0.3352</c:v>
                </c:pt>
                <c:pt idx="2">
                  <c:v>0.1336</c:v>
                </c:pt>
                <c:pt idx="3">
                  <c:v>0.1476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1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280160"/>
            <a:ext cx="1005840" cy="822960"/>
          </a:xfrm>
          <a:prstGeom prst="line">
            <a:avLst/>
          </a:prstGeom>
          <a:noFill/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14400" y="2103120"/>
            <a:ext cx="1280160" cy="914400"/>
          </a:xfrm>
          <a:prstGeom prst="line">
            <a:avLst/>
          </a:prstGeom>
          <a:noFill/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017520"/>
            <a:ext cx="1554480" cy="822960"/>
          </a:xfrm>
          <a:prstGeom prst="line">
            <a:avLst/>
          </a:prstGeom>
          <a:noFill/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463040" y="3840480"/>
            <a:ext cx="1005840" cy="1097280"/>
          </a:xfrm>
          <a:prstGeom prst="line">
            <a:avLst/>
          </a:prstGeom>
          <a:noFill/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" y="1197864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2112264" y="2020824"/>
            <a:ext cx="164592" cy="164592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2935224"/>
            <a:ext cx="164592" cy="16459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9" name="Shape 7"/>
          <p:cNvSpPr/>
          <p:nvPr/>
        </p:nvSpPr>
        <p:spPr>
          <a:xfrm>
            <a:off x="2386584" y="375818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0" name="Shape 8"/>
          <p:cNvSpPr/>
          <p:nvPr/>
        </p:nvSpPr>
        <p:spPr>
          <a:xfrm>
            <a:off x="1380744" y="485546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31920" y="20116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MOTIF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2004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Self-Supervised Multi-Omics Transformer for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Cross-Tissue Gene Expression Inference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5120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Abhiram Kaakarla¹     Vinayak Elangovan, Ph.D.²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5486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Central Bucks High School South     ² Penn State Abington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genome, different genes turned 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in your body carries the same DNA. What makes a liver cell different from a brain cell isn't the genetic code itself — it's which genes get switched on or off.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signals control that switching: whether the DNA around a gene is physically open and reachable, and whether it's chemically tagged with a mark that shuts the gene off. A model that learns this relationship in one tissue has to prove it actually transfers to a tissue it's never seen — and most prior work never tests that directly.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1737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2057400"/>
            <a:ext cx="4389120" cy="502920"/>
          </a:xfrm>
          <a:prstGeom prst="ellipse">
            <a:avLst/>
          </a:prstGeom>
          <a:solidFill>
            <a:srgbClr val="2E86AB">
              <a:alpha val="8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0" y="2057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chromatin  →  gene reachable  →  usually active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6517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regions of DNA are physically available for the cell's machinery to read.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4023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4343400"/>
            <a:ext cx="4389120" cy="502920"/>
          </a:xfrm>
          <a:prstGeom prst="ellipse">
            <a:avLst/>
          </a:prstGeom>
          <a:solidFill>
            <a:srgbClr val="A23B72">
              <a:alpha val="8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4343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mark  →  gene silenced  →  usually inactive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49377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chemical tag on the promoter region typically switches a gene off.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pretraining help a model generalize across tissues?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(Multi-Omics Transformer for Inferring Function) is a self-supervised transformer trained to predict gene expression from chromatin accessibility and DNA methylation — then explicitly tested on tissues it never saw during fine-tuning.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9516" y="320040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2E86AB">
              <a:alpha val="12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5396" y="3520440"/>
            <a:ext cx="731520" cy="7315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9516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99516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samples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2836" y="320040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A23B72">
              <a:alpha val="12000"/>
            </a:srgbClr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28716" y="3520440"/>
            <a:ext cx="731520" cy="731520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02836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02836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samples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6156" y="320040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18F01">
              <a:alpha val="12000"/>
            </a:srgbClr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32036" y="3520440"/>
            <a:ext cx="731520" cy="7315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06156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106156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 samples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GTEx (expression) + ENCODE (accessibility, methylation) data — 1,059 samples total, not simulated placeholders.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start to finish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79476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0916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2628" y="27614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0916" y="31272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real GTEx +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files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52828" y="3044952"/>
            <a:ext cx="292608" cy="219456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9" name="Shape 7"/>
          <p:cNvSpPr/>
          <p:nvPr/>
        </p:nvSpPr>
        <p:spPr>
          <a:xfrm>
            <a:off x="2327148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18588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400300" y="27614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18588" y="31272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per-gene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profiles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00500" y="3044952"/>
            <a:ext cx="292608" cy="219456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74820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E887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6626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47972" y="27614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66260" y="31272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15% of values,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reconstruct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(no labels)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8172" y="3044952"/>
            <a:ext cx="292608" cy="219456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22492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13932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95644" y="27614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13932" y="31272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labels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95844" y="3044952"/>
            <a:ext cx="292608" cy="219456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24" name="Shape 22"/>
          <p:cNvSpPr/>
          <p:nvPr/>
        </p:nvSpPr>
        <p:spPr>
          <a:xfrm>
            <a:off x="8170164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61604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43316" y="27614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61604" y="31272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Same-tissue +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cross-tissue transfer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843516" y="3044952"/>
            <a:ext cx="292608" cy="219456"/>
          </a:xfrm>
          <a:prstGeom prst="rightArrow">
            <a:avLst/>
          </a:prstGeom>
          <a:solidFill>
            <a:srgbClr val="5A6B7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17836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09276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90988" y="27614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209276" y="312724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trained side by side at the fine-tuning step — linear, MLP, transformer (scratch), transformer (pretrained) — for a fair comparison.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94560" y="5212080"/>
            <a:ext cx="7772400" cy="1005840"/>
          </a:xfrm>
          <a:prstGeom prst="roundRect">
            <a:avLst>
              <a:gd name="adj" fmla="val 9091"/>
            </a:avLst>
          </a:prstGeom>
          <a:solidFill>
            <a:srgbClr val="F2F6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468880" y="53492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is one command in the public GitHub repo — clone it, run the pipeline, and the same results come back out.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compared fairly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675120" y="1737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wins here — on purpose-built synthetic inputs that are close to linear by construction. See the honest explanation →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75120" y="3063240"/>
            <a:ext cx="4937760" cy="2651760"/>
          </a:xfrm>
          <a:prstGeom prst="roundRect">
            <a:avLst>
              <a:gd name="adj" fmla="val 3448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4944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that matters more: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3566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Cross-tissue transfer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4160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0.172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pretrained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vs.  </a:t>
            </a:r>
            <a:pPr indent="0" marL="0">
              <a:buNone/>
            </a:pPr>
            <a:r>
              <a:rPr lang="en-US" sz="2200" b="1" dirty="0">
                <a:solidFill>
                  <a:srgbClr val="8F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0.160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from scratch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4846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R² across liver, brain, and lung, training on liver only and testing cold on the other two. A small but real improvement from pretraining.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ACCURACY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actually reflect real biology?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9496" y="16459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18288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0.611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Gene-gene correlation structure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8803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over from real expression into the model's predictions.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4256" y="16459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62856" y="18288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gene methylation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8803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GAPDH and TBP stay unmethylated across all three tissues, exactly as known biology predicts.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29016" y="16459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2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7616" y="18288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layers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attention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8803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consistently focuses on a recurring subset of genomic positions, not a random spread.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C7293">
              <a:alpha val="1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generative: a conditional diffusion model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separately, MOTIF's DDPM learns to reverse a 200-step noising process, so it can generate new synthetic tissue-specific accessibility/methylation profiles on demand — useful for augmenting limited real data.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is runnable, not just described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from GitHub — code, configs, and a README with exact setup steps.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download data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08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requirements.txt, then one script pulls real GTEx + ENCODE files.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160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per stage: preprocess → pretrain → fine-tune → diffusion → evaluate.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846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dashboard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212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— predict expression, generate synthetic profiles, explore results interactively.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60350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 — open for anyone to inspect, run, or build on.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MOTIF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study integrating real multi-omics data across three tissues — built to be honest about what it does and doesn't yet show.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 pipeline, dashboard, and manuscript draft on GitHub.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509760" y="1280160"/>
            <a:ext cx="1097280" cy="822960"/>
          </a:xfrm>
          <a:prstGeom prst="line">
            <a:avLst/>
          </a:prstGeom>
          <a:noFill/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235440" y="2103120"/>
            <a:ext cx="1371600" cy="914400"/>
          </a:xfrm>
          <a:prstGeom prst="line">
            <a:avLst/>
          </a:prstGeom>
          <a:noFill/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3017520"/>
            <a:ext cx="1645920" cy="822960"/>
          </a:xfrm>
          <a:prstGeom prst="line">
            <a:avLst/>
          </a:prstGeom>
          <a:noFill/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692640" y="3840480"/>
            <a:ext cx="1188720" cy="1097280"/>
          </a:xfrm>
          <a:prstGeom prst="line">
            <a:avLst/>
          </a:prstGeom>
          <a:noFill/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4937760"/>
            <a:ext cx="1188720" cy="640080"/>
          </a:xfrm>
          <a:prstGeom prst="line">
            <a:avLst/>
          </a:prstGeom>
          <a:noFill/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27464" y="1197864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Shape 9"/>
          <p:cNvSpPr/>
          <p:nvPr/>
        </p:nvSpPr>
        <p:spPr>
          <a:xfrm>
            <a:off x="10524744" y="2020824"/>
            <a:ext cx="164592" cy="164592"/>
          </a:xfrm>
          <a:prstGeom prst="ellipse">
            <a:avLst/>
          </a:prstGeom>
          <a:solidFill>
            <a:srgbClr val="A23B72"/>
          </a:solidFill>
          <a:ln/>
        </p:spPr>
      </p:sp>
      <p:sp>
        <p:nvSpPr>
          <p:cNvPr id="12" name="Shape 10"/>
          <p:cNvSpPr/>
          <p:nvPr/>
        </p:nvSpPr>
        <p:spPr>
          <a:xfrm>
            <a:off x="9153144" y="2935224"/>
            <a:ext cx="164592" cy="16459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9064" y="375818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10344" y="485546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9064" y="54955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2026-09-09T21:32:47Z</dcterms:created>
  <dcterms:modified xsi:type="dcterms:W3CDTF">2026-09-09T21:32:47Z</dcterms:modified>
</cp:coreProperties>
</file>